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050E-84CB-DFBF-22C4-07577BFA2E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3CDCA0-0BFB-7A08-DF18-C929D6AB5A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D93652-1A5E-838B-3E29-E155EC2B6866}"/>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5" name="Footer Placeholder 4">
            <a:extLst>
              <a:ext uri="{FF2B5EF4-FFF2-40B4-BE49-F238E27FC236}">
                <a16:creationId xmlns:a16="http://schemas.microsoft.com/office/drawing/2014/main" id="{2E35C544-F71A-CB91-F8BA-3E0BDA7FA5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6440FB-93C7-920A-F0E5-A932B85F8463}"/>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3162481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7AB5E-9958-EAC4-0741-3C990C0537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DB2E2E-D201-7A99-08B7-B4DB92DA54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2F9901-25EB-E80F-7C0A-6BCC7E7ABBEB}"/>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5" name="Footer Placeholder 4">
            <a:extLst>
              <a:ext uri="{FF2B5EF4-FFF2-40B4-BE49-F238E27FC236}">
                <a16:creationId xmlns:a16="http://schemas.microsoft.com/office/drawing/2014/main" id="{08698183-0761-702C-CC27-171A7227CC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8C854B-2ADD-31BA-9725-ACB9EEF486C0}"/>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2657358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D4DB2-950E-A66B-C7AB-2AF682BA51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7AE82A-C4BD-4CF5-F58B-0288AD5087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67A8FC-2725-6D87-7CC6-CE98F5E732FA}"/>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5" name="Footer Placeholder 4">
            <a:extLst>
              <a:ext uri="{FF2B5EF4-FFF2-40B4-BE49-F238E27FC236}">
                <a16:creationId xmlns:a16="http://schemas.microsoft.com/office/drawing/2014/main" id="{0B48C985-E1EC-ECC7-2413-510F4B5A10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29EDF5-EEA4-E513-0995-687D455D6D09}"/>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715747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04C3A-A2AA-61FB-92E7-89FD614A34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9D404A-C418-7D3F-60ED-FF21490370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14E1B3-E146-89F9-C3C9-0B97B448D3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4C95AC-BF43-4BAF-CD5D-653BD855645E}"/>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6" name="Footer Placeholder 5">
            <a:extLst>
              <a:ext uri="{FF2B5EF4-FFF2-40B4-BE49-F238E27FC236}">
                <a16:creationId xmlns:a16="http://schemas.microsoft.com/office/drawing/2014/main" id="{7C23FE56-557A-2054-603A-54C23C14A3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390454-9FC0-E2C9-5F6E-EB0A933522F6}"/>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3537492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52534-BFD9-C52A-37AB-46CE971A030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706AA1-AEDF-FF4D-88AC-7A8786BF9F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CAF7D1-6057-E723-BFD7-7891FCFC54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046524-6EB1-6CEA-A298-C3DA50397C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DD1C9B-6FC9-CA43-EA4E-CC54F23CEE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1CEE1E-E861-08CB-A589-78B25C55CD15}"/>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8" name="Footer Placeholder 7">
            <a:extLst>
              <a:ext uri="{FF2B5EF4-FFF2-40B4-BE49-F238E27FC236}">
                <a16:creationId xmlns:a16="http://schemas.microsoft.com/office/drawing/2014/main" id="{252D9B57-24FD-457B-4965-3FCB52ED74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FEC3D5C-E7E3-23D8-F5CD-A6C5D0749F57}"/>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2289399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BCBD7-4F9B-22F0-EB01-07D653E39A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360D4A-3148-6148-AB12-43C07A18BEB3}"/>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4" name="Footer Placeholder 3">
            <a:extLst>
              <a:ext uri="{FF2B5EF4-FFF2-40B4-BE49-F238E27FC236}">
                <a16:creationId xmlns:a16="http://schemas.microsoft.com/office/drawing/2014/main" id="{59C33319-E5EC-D57E-9B7D-3E374ED0C39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E2842B-FC75-DC2E-34A7-A2812E9E621C}"/>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1297590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FB97C0-AE70-B220-6A35-17644C63215F}"/>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3" name="Footer Placeholder 2">
            <a:extLst>
              <a:ext uri="{FF2B5EF4-FFF2-40B4-BE49-F238E27FC236}">
                <a16:creationId xmlns:a16="http://schemas.microsoft.com/office/drawing/2014/main" id="{141229A8-57C1-1E60-91E3-A775C07633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D6FAD5-96D0-79A3-EB3C-E91C8A8FAC58}"/>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2077542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59EC5-A5B8-3566-911F-D02250D950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319CB2-4B3A-C159-919D-6ABC35001B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C76CAA8-2562-CB74-E602-725DF2488C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EFBF60-6AEA-F6E6-CE3F-1ECD6C6E0EDC}"/>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6" name="Footer Placeholder 5">
            <a:extLst>
              <a:ext uri="{FF2B5EF4-FFF2-40B4-BE49-F238E27FC236}">
                <a16:creationId xmlns:a16="http://schemas.microsoft.com/office/drawing/2014/main" id="{A1D85438-81A9-2D48-CADA-4EAE200E40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DAB528-57FB-E940-7918-2A1A4FEB0A0E}"/>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402788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E0F40-CE84-2C99-038D-1B9C280268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CA38EA-FD1B-D038-301A-5DDA1F32BC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367CED-1CDA-D9AC-9C1E-BBFC2E1DEC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3EBF9D-0EED-56FE-DF1F-58B4E29C538E}"/>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6" name="Footer Placeholder 5">
            <a:extLst>
              <a:ext uri="{FF2B5EF4-FFF2-40B4-BE49-F238E27FC236}">
                <a16:creationId xmlns:a16="http://schemas.microsoft.com/office/drawing/2014/main" id="{5DB208DB-A3D9-CCF2-45C5-DADCF43F3E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D94A0D-D2A8-DD79-CD51-7577C9DBFB37}"/>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3002439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F176A-CF57-B232-FDE5-A624BD3F570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6CEA55-0642-6110-7A79-7BAB71A9A7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F3E106-BB41-86F1-0311-52079FBD54C8}"/>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5" name="Footer Placeholder 4">
            <a:extLst>
              <a:ext uri="{FF2B5EF4-FFF2-40B4-BE49-F238E27FC236}">
                <a16:creationId xmlns:a16="http://schemas.microsoft.com/office/drawing/2014/main" id="{6D4C39A3-44B2-ECF0-CE65-7FA24F959C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68463F-63E8-5908-8779-E32A21538D03}"/>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1183792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14342C-1235-5AF9-FA24-DE116CD512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AC097E-A34B-75C6-B1B2-1FDD6A7E9F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D3CEC2-209F-EEC8-9413-BC4CD6938C5C}"/>
              </a:ext>
            </a:extLst>
          </p:cNvPr>
          <p:cNvSpPr>
            <a:spLocks noGrp="1"/>
          </p:cNvSpPr>
          <p:nvPr>
            <p:ph type="dt" sz="half" idx="10"/>
          </p:nvPr>
        </p:nvSpPr>
        <p:spPr/>
        <p:txBody>
          <a:bodyPr/>
          <a:lstStyle/>
          <a:p>
            <a:fld id="{30123A8D-709D-4021-92F3-2446FAAFD512}" type="datetimeFigureOut">
              <a:rPr lang="en-IN" smtClean="0"/>
              <a:t>02-07-2026</a:t>
            </a:fld>
            <a:endParaRPr lang="en-IN"/>
          </a:p>
        </p:txBody>
      </p:sp>
      <p:sp>
        <p:nvSpPr>
          <p:cNvPr id="5" name="Footer Placeholder 4">
            <a:extLst>
              <a:ext uri="{FF2B5EF4-FFF2-40B4-BE49-F238E27FC236}">
                <a16:creationId xmlns:a16="http://schemas.microsoft.com/office/drawing/2014/main" id="{6211C026-D790-F0A3-403D-2EA345DA91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FD1306-3BC1-471F-5B1F-B2ACE914F860}"/>
              </a:ext>
            </a:extLst>
          </p:cNvPr>
          <p:cNvSpPr>
            <a:spLocks noGrp="1"/>
          </p:cNvSpPr>
          <p:nvPr>
            <p:ph type="sldNum" sz="quarter" idx="12"/>
          </p:nvPr>
        </p:nvSpPr>
        <p:spPr/>
        <p:txBody>
          <a:bodyPr/>
          <a:lstStyle/>
          <a:p>
            <a:fld id="{987C41A2-95DE-4A74-94B4-2CB6846D1EB4}" type="slidenum">
              <a:rPr lang="en-IN" smtClean="0"/>
              <a:t>‹#›</a:t>
            </a:fld>
            <a:endParaRPr lang="en-IN"/>
          </a:p>
        </p:txBody>
      </p:sp>
    </p:spTree>
    <p:extLst>
      <p:ext uri="{BB962C8B-B14F-4D97-AF65-F5344CB8AC3E}">
        <p14:creationId xmlns:p14="http://schemas.microsoft.com/office/powerpoint/2010/main" val="411078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E9BD85-EF12-708D-3EE4-2774A1407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520C76-A002-EF1A-9869-8098000413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7DB8DB-DFB9-0B8C-8362-137C09ECDC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123A8D-709D-4021-92F3-2446FAAFD512}" type="datetimeFigureOut">
              <a:rPr lang="en-IN" smtClean="0"/>
              <a:t>02-07-2026</a:t>
            </a:fld>
            <a:endParaRPr lang="en-IN"/>
          </a:p>
        </p:txBody>
      </p:sp>
      <p:sp>
        <p:nvSpPr>
          <p:cNvPr id="5" name="Footer Placeholder 4">
            <a:extLst>
              <a:ext uri="{FF2B5EF4-FFF2-40B4-BE49-F238E27FC236}">
                <a16:creationId xmlns:a16="http://schemas.microsoft.com/office/drawing/2014/main" id="{881C5591-7706-D6AB-683D-C5CFDAAC2E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D548FC4-54DB-8EFE-565F-50610ECEB2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7C41A2-95DE-4A74-94B4-2CB6846D1EB4}" type="slidenum">
              <a:rPr lang="en-IN" smtClean="0"/>
              <a:t>‹#›</a:t>
            </a:fld>
            <a:endParaRPr lang="en-IN"/>
          </a:p>
        </p:txBody>
      </p:sp>
    </p:spTree>
    <p:extLst>
      <p:ext uri="{BB962C8B-B14F-4D97-AF65-F5344CB8AC3E}">
        <p14:creationId xmlns:p14="http://schemas.microsoft.com/office/powerpoint/2010/main" val="95630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EB728-3A8C-D455-4576-146067FAA74C}"/>
              </a:ext>
            </a:extLst>
          </p:cNvPr>
          <p:cNvSpPr>
            <a:spLocks noGrp="1"/>
          </p:cNvSpPr>
          <p:nvPr>
            <p:ph type="ctrTitle"/>
          </p:nvPr>
        </p:nvSpPr>
        <p:spPr>
          <a:xfrm>
            <a:off x="0" y="0"/>
            <a:ext cx="12192000" cy="1564640"/>
          </a:xfrm>
        </p:spPr>
        <p:txBody>
          <a:bodyPr>
            <a:normAutofit/>
          </a:bodyPr>
          <a:lstStyle/>
          <a:p>
            <a:r>
              <a:rPr lang="en-IN" sz="5400" b="1" i="1" u="sng" dirty="0">
                <a:effectLst>
                  <a:outerShdw blurRad="38100" dist="38100" dir="2700000" algn="tl">
                    <a:srgbClr val="000000">
                      <a:alpha val="43137"/>
                    </a:srgbClr>
                  </a:outerShdw>
                </a:effectLst>
              </a:rPr>
              <a:t>Sales Performance Dashboard</a:t>
            </a:r>
          </a:p>
        </p:txBody>
      </p:sp>
      <p:sp>
        <p:nvSpPr>
          <p:cNvPr id="3" name="Subtitle 2">
            <a:extLst>
              <a:ext uri="{FF2B5EF4-FFF2-40B4-BE49-F238E27FC236}">
                <a16:creationId xmlns:a16="http://schemas.microsoft.com/office/drawing/2014/main" id="{03D4B40E-2094-3740-BF3A-C2C46D0AFCCD}"/>
              </a:ext>
            </a:extLst>
          </p:cNvPr>
          <p:cNvSpPr>
            <a:spLocks noGrp="1"/>
          </p:cNvSpPr>
          <p:nvPr>
            <p:ph type="subTitle" idx="1"/>
          </p:nvPr>
        </p:nvSpPr>
        <p:spPr>
          <a:xfrm>
            <a:off x="0" y="2834640"/>
            <a:ext cx="12192000" cy="3261360"/>
          </a:xfrm>
        </p:spPr>
        <p:txBody>
          <a:bodyPr/>
          <a:lstStyle/>
          <a:p>
            <a:r>
              <a:rPr lang="en-IN" sz="3600" b="1" dirty="0"/>
              <a:t>Interactive Business Intelligence Dashboard using Power BI</a:t>
            </a:r>
          </a:p>
          <a:p>
            <a:r>
              <a:rPr lang="en-IN" sz="2800" b="1" dirty="0"/>
              <a:t>Submitted By: Manas Aswal</a:t>
            </a:r>
            <a:endParaRPr lang="en-IN" sz="2800" dirty="0"/>
          </a:p>
          <a:p>
            <a:r>
              <a:rPr lang="en-IN" b="1" dirty="0"/>
              <a:t>Role:</a:t>
            </a:r>
            <a:r>
              <a:rPr lang="en-IN" dirty="0"/>
              <a:t> Data Analyst Intern</a:t>
            </a:r>
          </a:p>
          <a:p>
            <a:r>
              <a:rPr lang="en-IN" dirty="0"/>
              <a:t>Intern at: </a:t>
            </a:r>
            <a:r>
              <a:rPr lang="en-IN" b="1" dirty="0"/>
              <a:t>DATAX LABS</a:t>
            </a:r>
          </a:p>
        </p:txBody>
      </p:sp>
    </p:spTree>
    <p:extLst>
      <p:ext uri="{BB962C8B-B14F-4D97-AF65-F5344CB8AC3E}">
        <p14:creationId xmlns:p14="http://schemas.microsoft.com/office/powerpoint/2010/main" val="1897185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C4C4-BFC6-9F74-49E5-B31065E66F17}"/>
              </a:ext>
            </a:extLst>
          </p:cNvPr>
          <p:cNvSpPr>
            <a:spLocks noGrp="1"/>
          </p:cNvSpPr>
          <p:nvPr>
            <p:ph type="title"/>
          </p:nvPr>
        </p:nvSpPr>
        <p:spPr>
          <a:xfrm>
            <a:off x="0" y="121921"/>
            <a:ext cx="12192000" cy="6736080"/>
          </a:xfrm>
        </p:spPr>
        <p:txBody>
          <a:bodyPr>
            <a:normAutofit/>
          </a:bodyPr>
          <a:lstStyle/>
          <a:p>
            <a:pPr marL="571500" indent="-571500">
              <a:buFont typeface="Wingdings" panose="05000000000000000000" pitchFamily="2" charset="2"/>
              <a:buChar char="q"/>
            </a:pPr>
            <a:r>
              <a:rPr lang="en-IN" sz="4000" b="1" i="1" u="sng" dirty="0"/>
              <a:t>Objective</a:t>
            </a:r>
            <a:br>
              <a:rPr lang="en-IN" sz="2800" b="1" dirty="0"/>
            </a:br>
            <a:br>
              <a:rPr lang="en-IN" sz="2800" b="1" dirty="0"/>
            </a:br>
            <a:r>
              <a:rPr lang="en-IN" sz="2400" dirty="0"/>
              <a:t>The objective of this project is to design an interactive Sales Performance Dashboard using Power BI that enables stakeholders to monitor business performance and make informed decisions.</a:t>
            </a:r>
            <a:br>
              <a:rPr lang="en-IN" sz="2400" dirty="0"/>
            </a:br>
            <a:br>
              <a:rPr lang="en-IN" sz="2400" dirty="0"/>
            </a:br>
            <a:r>
              <a:rPr lang="en-IN" sz="2400" dirty="0"/>
              <a:t>The dashboard provides:</a:t>
            </a:r>
            <a:br>
              <a:rPr lang="en-IN" sz="2400" dirty="0"/>
            </a:br>
            <a:r>
              <a:rPr lang="en-IN" sz="2400" dirty="0"/>
              <a:t>1)   Real-time business KPIs </a:t>
            </a:r>
            <a:br>
              <a:rPr lang="en-IN" sz="2400" dirty="0"/>
            </a:br>
            <a:r>
              <a:rPr lang="en-IN" sz="2400" dirty="0"/>
              <a:t>2)   Sales performance monitoring </a:t>
            </a:r>
            <a:br>
              <a:rPr lang="en-IN" sz="2400" dirty="0"/>
            </a:br>
            <a:r>
              <a:rPr lang="en-IN" sz="2400" dirty="0"/>
              <a:t>3)   Profitability analysis </a:t>
            </a:r>
            <a:br>
              <a:rPr lang="en-IN" sz="2400" dirty="0"/>
            </a:br>
            <a:r>
              <a:rPr lang="en-IN" sz="2400" dirty="0"/>
              <a:t>4)   Regional comparison </a:t>
            </a:r>
            <a:br>
              <a:rPr lang="en-IN" sz="2400" dirty="0"/>
            </a:br>
            <a:r>
              <a:rPr lang="en-IN" sz="2400" dirty="0"/>
              <a:t>5)   Customer segment analysis </a:t>
            </a:r>
            <a:br>
              <a:rPr lang="en-IN" sz="2400" dirty="0"/>
            </a:br>
            <a:r>
              <a:rPr lang="en-IN" sz="2400" dirty="0"/>
              <a:t>6)   Product performance insights </a:t>
            </a:r>
            <a:br>
              <a:rPr lang="en-IN" sz="2800" dirty="0"/>
            </a:br>
            <a:endParaRPr lang="en-IN" sz="2800" dirty="0"/>
          </a:p>
        </p:txBody>
      </p:sp>
    </p:spTree>
    <p:extLst>
      <p:ext uri="{BB962C8B-B14F-4D97-AF65-F5344CB8AC3E}">
        <p14:creationId xmlns:p14="http://schemas.microsoft.com/office/powerpoint/2010/main" val="3273366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51990-CC2A-121F-9529-164A30F43378}"/>
              </a:ext>
            </a:extLst>
          </p:cNvPr>
          <p:cNvSpPr>
            <a:spLocks noGrp="1"/>
          </p:cNvSpPr>
          <p:nvPr>
            <p:ph type="title"/>
          </p:nvPr>
        </p:nvSpPr>
        <p:spPr>
          <a:xfrm>
            <a:off x="0" y="0"/>
            <a:ext cx="12192000" cy="6858000"/>
          </a:xfrm>
        </p:spPr>
        <p:txBody>
          <a:bodyPr>
            <a:normAutofit/>
          </a:bodyPr>
          <a:lstStyle/>
          <a:p>
            <a:pPr marL="571500" indent="-571500">
              <a:buFont typeface="Wingdings" panose="05000000000000000000" pitchFamily="2" charset="2"/>
              <a:buChar char="q"/>
            </a:pPr>
            <a:r>
              <a:rPr lang="en-IN" sz="4000" b="1" i="1" u="sng" dirty="0"/>
              <a:t>Problem Statement</a:t>
            </a:r>
            <a:br>
              <a:rPr lang="en-IN" sz="4000" b="1" i="1" u="sng" dirty="0"/>
            </a:br>
            <a:br>
              <a:rPr lang="en-IN" sz="1600" b="1" dirty="0"/>
            </a:br>
            <a:r>
              <a:rPr lang="en-IN" sz="2400" dirty="0"/>
              <a:t>Businesses generate thousands of sales transactions every day. Raw data alone does not provide meaningful insights for decision-making.</a:t>
            </a:r>
            <a:br>
              <a:rPr lang="en-IN" sz="2400" dirty="0"/>
            </a:br>
            <a:br>
              <a:rPr lang="en-IN" sz="2400" dirty="0"/>
            </a:br>
            <a:r>
              <a:rPr lang="en-IN" sz="2400" dirty="0"/>
              <a:t>Without an interactive dashboard:</a:t>
            </a:r>
            <a:br>
              <a:rPr lang="en-IN" sz="2400" dirty="0"/>
            </a:br>
            <a:r>
              <a:rPr lang="en-IN" sz="2400" dirty="0"/>
              <a:t>1)  Sales trends are difficult to identify. </a:t>
            </a:r>
            <a:br>
              <a:rPr lang="en-IN" sz="2400" dirty="0"/>
            </a:br>
            <a:r>
              <a:rPr lang="en-IN" sz="2400" dirty="0"/>
              <a:t>2)  Regional performance cannot be compared easily. </a:t>
            </a:r>
            <a:br>
              <a:rPr lang="en-IN" sz="2400" dirty="0"/>
            </a:br>
            <a:r>
              <a:rPr lang="en-IN" sz="2400" dirty="0"/>
              <a:t>3)  Profitable products remain hidden. </a:t>
            </a:r>
            <a:br>
              <a:rPr lang="en-IN" sz="2400" dirty="0"/>
            </a:br>
            <a:r>
              <a:rPr lang="en-IN" sz="2400" dirty="0"/>
              <a:t>4)  Management spends significant time preparing reports. </a:t>
            </a:r>
            <a:br>
              <a:rPr lang="en-IN" sz="2400" dirty="0"/>
            </a:br>
            <a:r>
              <a:rPr lang="en-IN" sz="2400" dirty="0"/>
              <a:t>5)  Decision-making becomes slower. </a:t>
            </a:r>
            <a:br>
              <a:rPr lang="en-IN" sz="2400" dirty="0"/>
            </a:br>
            <a:br>
              <a:rPr lang="en-IN" sz="2400" dirty="0"/>
            </a:br>
            <a:r>
              <a:rPr lang="en-IN" sz="3600" b="1" i="1" u="sng" dirty="0"/>
              <a:t>Solution</a:t>
            </a:r>
            <a:br>
              <a:rPr lang="en-IN" sz="1600" b="1" dirty="0"/>
            </a:br>
            <a:r>
              <a:rPr lang="en-IN" sz="2400" dirty="0"/>
              <a:t>Develop a Power BI dashboard that converts raw sales data into meaningful visual insights through KPIs, charts, and interactive filters.</a:t>
            </a:r>
            <a:br>
              <a:rPr lang="en-IN" sz="2400" dirty="0"/>
            </a:br>
            <a:endParaRPr lang="en-IN" sz="2400" dirty="0"/>
          </a:p>
        </p:txBody>
      </p:sp>
    </p:spTree>
    <p:extLst>
      <p:ext uri="{BB962C8B-B14F-4D97-AF65-F5344CB8AC3E}">
        <p14:creationId xmlns:p14="http://schemas.microsoft.com/office/powerpoint/2010/main" val="1994987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CD22C-CD2E-EBCB-294C-BB7366DCECEE}"/>
              </a:ext>
            </a:extLst>
          </p:cNvPr>
          <p:cNvSpPr>
            <a:spLocks noGrp="1"/>
          </p:cNvSpPr>
          <p:nvPr>
            <p:ph type="title"/>
          </p:nvPr>
        </p:nvSpPr>
        <p:spPr>
          <a:xfrm>
            <a:off x="0" y="1"/>
            <a:ext cx="12192000" cy="6858000"/>
          </a:xfrm>
        </p:spPr>
        <p:txBody>
          <a:bodyPr>
            <a:normAutofit/>
          </a:bodyPr>
          <a:lstStyle/>
          <a:p>
            <a:pPr marL="571500" indent="-571500">
              <a:buFont typeface="Wingdings" panose="05000000000000000000" pitchFamily="2" charset="2"/>
              <a:buChar char="q"/>
            </a:pPr>
            <a:r>
              <a:rPr lang="en-IN" sz="4000" b="1" i="1" u="sng" dirty="0"/>
              <a:t>Dataset Used</a:t>
            </a:r>
            <a:br>
              <a:rPr lang="en-IN" sz="4000" b="1" i="1" u="sng" dirty="0"/>
            </a:br>
            <a:r>
              <a:rPr lang="en-IN" sz="4000" b="1" i="1" u="sng" dirty="0"/>
              <a:t>Sample Superstore Dataset</a:t>
            </a:r>
            <a:br>
              <a:rPr lang="en-IN" sz="4000" b="1" i="1" u="sng" dirty="0"/>
            </a:br>
            <a:br>
              <a:rPr lang="en-IN" sz="1800" dirty="0"/>
            </a:br>
            <a:r>
              <a:rPr lang="en-IN" sz="2400" dirty="0"/>
              <a:t>The dataset contains approximately </a:t>
            </a:r>
            <a:r>
              <a:rPr lang="en-IN" sz="2400" b="1" dirty="0"/>
              <a:t>9,994 sales records</a:t>
            </a:r>
            <a:r>
              <a:rPr lang="en-IN" sz="2400" dirty="0"/>
              <a:t> with multiple business attributes.</a:t>
            </a:r>
            <a:br>
              <a:rPr lang="en-IN" sz="2400" dirty="0"/>
            </a:br>
            <a:r>
              <a:rPr lang="en-IN" sz="2400" b="1" i="1" u="sng" dirty="0"/>
              <a:t>Important Columns</a:t>
            </a:r>
            <a:br>
              <a:rPr lang="en-IN" sz="2400" b="1" dirty="0"/>
            </a:br>
            <a:r>
              <a:rPr lang="en-IN" sz="2400" dirty="0"/>
              <a:t>1)</a:t>
            </a:r>
            <a:r>
              <a:rPr lang="en-IN" sz="2400" b="1" dirty="0"/>
              <a:t>   </a:t>
            </a:r>
            <a:r>
              <a:rPr lang="en-IN" sz="2400" dirty="0"/>
              <a:t>Order Date </a:t>
            </a:r>
            <a:br>
              <a:rPr lang="en-IN" sz="2400" dirty="0"/>
            </a:br>
            <a:r>
              <a:rPr lang="en-IN" sz="2400" dirty="0"/>
              <a:t>2)   Ship Date </a:t>
            </a:r>
            <a:br>
              <a:rPr lang="en-IN" sz="2400" dirty="0"/>
            </a:br>
            <a:r>
              <a:rPr lang="en-IN" sz="2400" dirty="0"/>
              <a:t>3)   Sales </a:t>
            </a:r>
            <a:br>
              <a:rPr lang="en-IN" sz="2400" dirty="0"/>
            </a:br>
            <a:r>
              <a:rPr lang="en-IN" sz="2400" dirty="0"/>
              <a:t>4)   Profit </a:t>
            </a:r>
            <a:br>
              <a:rPr lang="en-IN" sz="2400" dirty="0"/>
            </a:br>
            <a:r>
              <a:rPr lang="en-IN" sz="2400" dirty="0"/>
              <a:t>5)   Quantity </a:t>
            </a:r>
            <a:br>
              <a:rPr lang="en-IN" sz="2400" dirty="0"/>
            </a:br>
            <a:r>
              <a:rPr lang="en-IN" sz="2400" dirty="0"/>
              <a:t>6)   Discount </a:t>
            </a:r>
            <a:br>
              <a:rPr lang="en-IN" sz="2400" dirty="0"/>
            </a:br>
            <a:r>
              <a:rPr lang="en-IN" sz="2400" dirty="0"/>
              <a:t>7)   Category </a:t>
            </a:r>
            <a:br>
              <a:rPr lang="en-IN" sz="2400" dirty="0"/>
            </a:br>
            <a:r>
              <a:rPr lang="en-IN" sz="2400" dirty="0"/>
              <a:t>8)   Sub-Category </a:t>
            </a:r>
            <a:br>
              <a:rPr lang="en-IN" sz="2400" dirty="0"/>
            </a:br>
            <a:r>
              <a:rPr lang="en-IN" sz="2400" dirty="0"/>
              <a:t>9)   Product Name </a:t>
            </a:r>
            <a:br>
              <a:rPr lang="en-IN" sz="2400" dirty="0"/>
            </a:br>
            <a:r>
              <a:rPr lang="en-IN" sz="2400" dirty="0"/>
              <a:t>10) Customer Segment </a:t>
            </a:r>
            <a:br>
              <a:rPr lang="en-IN" sz="2400" dirty="0"/>
            </a:br>
            <a:r>
              <a:rPr lang="en-IN" sz="2400" dirty="0"/>
              <a:t>11) Region </a:t>
            </a:r>
            <a:br>
              <a:rPr lang="en-IN" sz="2400" dirty="0"/>
            </a:br>
            <a:r>
              <a:rPr lang="en-IN" sz="2400" dirty="0"/>
              <a:t>12) State </a:t>
            </a:r>
            <a:br>
              <a:rPr lang="en-IN" sz="2400" dirty="0"/>
            </a:br>
            <a:r>
              <a:rPr lang="en-IN" sz="2400" dirty="0"/>
              <a:t>13) Ship Mode</a:t>
            </a:r>
            <a:br>
              <a:rPr lang="en-IN" sz="2400" dirty="0"/>
            </a:br>
            <a:endParaRPr lang="en-IN" sz="2400" dirty="0"/>
          </a:p>
        </p:txBody>
      </p:sp>
    </p:spTree>
    <p:extLst>
      <p:ext uri="{BB962C8B-B14F-4D97-AF65-F5344CB8AC3E}">
        <p14:creationId xmlns:p14="http://schemas.microsoft.com/office/powerpoint/2010/main" val="3453367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BD2F3-06F3-EEE3-62E4-479CD2FB1DEB}"/>
              </a:ext>
            </a:extLst>
          </p:cNvPr>
          <p:cNvSpPr>
            <a:spLocks noGrp="1"/>
          </p:cNvSpPr>
          <p:nvPr>
            <p:ph type="title"/>
          </p:nvPr>
        </p:nvSpPr>
        <p:spPr>
          <a:xfrm>
            <a:off x="0" y="1"/>
            <a:ext cx="12192000" cy="6858000"/>
          </a:xfrm>
        </p:spPr>
        <p:txBody>
          <a:bodyPr>
            <a:normAutofit/>
          </a:bodyPr>
          <a:lstStyle/>
          <a:p>
            <a:pPr marL="571500" indent="-571500">
              <a:buFont typeface="Wingdings" panose="05000000000000000000" pitchFamily="2" charset="2"/>
              <a:buChar char="q"/>
            </a:pPr>
            <a:r>
              <a:rPr lang="en-IN" sz="4000" b="1" i="1" u="sng" dirty="0"/>
              <a:t>Data Cleaning Process</a:t>
            </a:r>
            <a:br>
              <a:rPr lang="en-IN" sz="4000" b="1" i="1" u="sng" dirty="0"/>
            </a:br>
            <a:br>
              <a:rPr lang="en-IN" sz="1600" b="1" dirty="0"/>
            </a:br>
            <a:r>
              <a:rPr lang="en-IN" sz="2400" dirty="0"/>
              <a:t>Before creating the dashboard, the following preprocessing steps were performed:</a:t>
            </a:r>
            <a:br>
              <a:rPr lang="en-IN" sz="2400" dirty="0"/>
            </a:br>
            <a:r>
              <a:rPr lang="en-IN" sz="2400" dirty="0"/>
              <a:t>1)  Imported CSV into Power BI </a:t>
            </a:r>
            <a:br>
              <a:rPr lang="en-IN" sz="2400" dirty="0"/>
            </a:br>
            <a:r>
              <a:rPr lang="en-IN" sz="2400" dirty="0"/>
              <a:t>2)  Verified data types </a:t>
            </a:r>
            <a:br>
              <a:rPr lang="en-IN" sz="2400" dirty="0"/>
            </a:br>
            <a:r>
              <a:rPr lang="en-IN" sz="2400" dirty="0"/>
              <a:t>3)  Converted date columns </a:t>
            </a:r>
            <a:br>
              <a:rPr lang="en-IN" sz="2400" dirty="0"/>
            </a:br>
            <a:r>
              <a:rPr lang="en-IN" sz="2400" dirty="0"/>
              <a:t>4)  Created DAX measures </a:t>
            </a:r>
            <a:br>
              <a:rPr lang="en-IN" sz="2400" dirty="0"/>
            </a:br>
            <a:r>
              <a:rPr lang="en-IN" sz="2400" dirty="0"/>
              <a:t>5)  Formatted currency values </a:t>
            </a:r>
            <a:br>
              <a:rPr lang="en-IN" sz="2400" dirty="0"/>
            </a:br>
            <a:r>
              <a:rPr lang="en-IN" sz="2400" dirty="0"/>
              <a:t>6)  Removed unnecessary fields </a:t>
            </a:r>
            <a:br>
              <a:rPr lang="en-IN" sz="2400" dirty="0"/>
            </a:br>
            <a:r>
              <a:rPr lang="en-IN" sz="2400" dirty="0"/>
              <a:t>7)  Organized report layout </a:t>
            </a:r>
            <a:br>
              <a:rPr lang="en-IN" sz="2400" dirty="0"/>
            </a:br>
            <a:br>
              <a:rPr lang="en-IN" sz="1600" dirty="0"/>
            </a:br>
            <a:r>
              <a:rPr lang="en-IN" sz="3600" b="1" i="1" u="sng" dirty="0"/>
              <a:t>DAX Measures Created</a:t>
            </a:r>
            <a:br>
              <a:rPr lang="en-IN" sz="3600" b="1" i="1" u="sng" dirty="0"/>
            </a:br>
            <a:br>
              <a:rPr lang="en-IN" sz="3600" b="1" i="1" u="sng" dirty="0"/>
            </a:br>
            <a:r>
              <a:rPr lang="en-IN" sz="2400" dirty="0"/>
              <a:t>1)  Total Sales </a:t>
            </a:r>
            <a:br>
              <a:rPr lang="en-IN" sz="2400" dirty="0"/>
            </a:br>
            <a:r>
              <a:rPr lang="en-IN" sz="2400" dirty="0"/>
              <a:t>2)  Total Profit </a:t>
            </a:r>
            <a:br>
              <a:rPr lang="en-IN" sz="2400" dirty="0"/>
            </a:br>
            <a:r>
              <a:rPr lang="en-IN" sz="2400" dirty="0"/>
              <a:t>3)  Total Orders </a:t>
            </a:r>
            <a:br>
              <a:rPr lang="en-IN" sz="2400" dirty="0"/>
            </a:br>
            <a:r>
              <a:rPr lang="en-IN" sz="2400" dirty="0"/>
              <a:t>4)  Profit Margin </a:t>
            </a:r>
            <a:br>
              <a:rPr lang="en-IN" sz="2400" dirty="0"/>
            </a:br>
            <a:r>
              <a:rPr lang="en-IN" sz="2400" dirty="0"/>
              <a:t>5)  Average Discount</a:t>
            </a:r>
            <a:br>
              <a:rPr lang="en-IN" sz="1600" dirty="0"/>
            </a:br>
            <a:endParaRPr lang="en-IN" sz="1600" dirty="0"/>
          </a:p>
        </p:txBody>
      </p:sp>
    </p:spTree>
    <p:extLst>
      <p:ext uri="{BB962C8B-B14F-4D97-AF65-F5344CB8AC3E}">
        <p14:creationId xmlns:p14="http://schemas.microsoft.com/office/powerpoint/2010/main" val="3317439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38A99-1074-8E92-B1A3-0A38365143FD}"/>
              </a:ext>
            </a:extLst>
          </p:cNvPr>
          <p:cNvSpPr>
            <a:spLocks noGrp="1"/>
          </p:cNvSpPr>
          <p:nvPr>
            <p:ph type="title"/>
          </p:nvPr>
        </p:nvSpPr>
        <p:spPr>
          <a:xfrm>
            <a:off x="0" y="1"/>
            <a:ext cx="12192000" cy="6858000"/>
          </a:xfrm>
        </p:spPr>
        <p:txBody>
          <a:bodyPr>
            <a:normAutofit/>
          </a:bodyPr>
          <a:lstStyle/>
          <a:p>
            <a:pPr marL="571500" indent="-571500">
              <a:buFont typeface="Wingdings" panose="05000000000000000000" pitchFamily="2" charset="2"/>
              <a:buChar char="q"/>
            </a:pPr>
            <a:r>
              <a:rPr lang="en-IN" sz="4000" b="1" i="1" u="sng" dirty="0"/>
              <a:t>Dashboard Components</a:t>
            </a:r>
            <a:br>
              <a:rPr lang="en-IN" sz="1400" b="1" dirty="0"/>
            </a:br>
            <a:r>
              <a:rPr lang="en-IN" sz="2400" dirty="0"/>
              <a:t>1)  KPI Cards </a:t>
            </a:r>
            <a:br>
              <a:rPr lang="en-IN" sz="2400" dirty="0"/>
            </a:br>
            <a:r>
              <a:rPr lang="en-IN" sz="2400" dirty="0"/>
              <a:t>2)  Monthly Sales Trend </a:t>
            </a:r>
            <a:br>
              <a:rPr lang="en-IN" sz="2400" dirty="0"/>
            </a:br>
            <a:r>
              <a:rPr lang="en-IN" sz="2400" dirty="0"/>
              <a:t>3)  Sales by Category </a:t>
            </a:r>
            <a:br>
              <a:rPr lang="en-IN" sz="2400" dirty="0"/>
            </a:br>
            <a:r>
              <a:rPr lang="en-IN" sz="2400" dirty="0"/>
              <a:t>4)  Profit by Region </a:t>
            </a:r>
            <a:br>
              <a:rPr lang="en-IN" sz="2400" dirty="0"/>
            </a:br>
            <a:r>
              <a:rPr lang="en-IN" sz="2400" dirty="0"/>
              <a:t>5)  Sales by Segment </a:t>
            </a:r>
            <a:br>
              <a:rPr lang="en-IN" sz="2400" dirty="0"/>
            </a:br>
            <a:r>
              <a:rPr lang="en-IN" sz="2400" dirty="0"/>
              <a:t>6)  Top 10 Products </a:t>
            </a:r>
            <a:br>
              <a:rPr lang="en-IN" sz="2400" dirty="0"/>
            </a:br>
            <a:r>
              <a:rPr lang="en-IN" sz="2400" dirty="0"/>
              <a:t>7)  Interactive Slicers </a:t>
            </a:r>
            <a:br>
              <a:rPr lang="en-IN" sz="2400" dirty="0"/>
            </a:br>
            <a:br>
              <a:rPr lang="en-IN" sz="1400" dirty="0"/>
            </a:br>
            <a:r>
              <a:rPr lang="en-IN" sz="2800" b="1" i="1" u="sng" dirty="0"/>
              <a:t>Explain that users can filter the report dynamically by:</a:t>
            </a:r>
            <a:br>
              <a:rPr lang="en-IN" sz="2800" b="1" i="1" u="sng" dirty="0"/>
            </a:br>
            <a:br>
              <a:rPr lang="en-IN" sz="2800" b="1" i="1" u="sng" dirty="0"/>
            </a:br>
            <a:r>
              <a:rPr lang="en-IN" sz="2400" dirty="0"/>
              <a:t>1)  Region </a:t>
            </a:r>
            <a:br>
              <a:rPr lang="en-IN" sz="2400" dirty="0"/>
            </a:br>
            <a:r>
              <a:rPr lang="en-IN" sz="2400" dirty="0"/>
              <a:t>2)  Category </a:t>
            </a:r>
            <a:br>
              <a:rPr lang="en-IN" sz="2400" dirty="0"/>
            </a:br>
            <a:r>
              <a:rPr lang="en-IN" sz="2400" dirty="0"/>
              <a:t>3)  Segment </a:t>
            </a:r>
            <a:br>
              <a:rPr lang="en-IN" sz="2400" dirty="0"/>
            </a:br>
            <a:r>
              <a:rPr lang="en-IN" sz="2400" dirty="0"/>
              <a:t>4)  Ship Mode </a:t>
            </a:r>
            <a:br>
              <a:rPr lang="en-IN" sz="2400" dirty="0"/>
            </a:br>
            <a:r>
              <a:rPr lang="en-IN" sz="2400" dirty="0"/>
              <a:t>5)  Year</a:t>
            </a:r>
            <a:br>
              <a:rPr lang="en-IN" sz="2400" dirty="0"/>
            </a:br>
            <a:endParaRPr lang="en-IN" sz="2400" dirty="0"/>
          </a:p>
        </p:txBody>
      </p:sp>
    </p:spTree>
    <p:extLst>
      <p:ext uri="{BB962C8B-B14F-4D97-AF65-F5344CB8AC3E}">
        <p14:creationId xmlns:p14="http://schemas.microsoft.com/office/powerpoint/2010/main" val="4065445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36E90-7366-E3F8-BC41-7750FEF0CA3C}"/>
              </a:ext>
            </a:extLst>
          </p:cNvPr>
          <p:cNvSpPr>
            <a:spLocks noGrp="1"/>
          </p:cNvSpPr>
          <p:nvPr>
            <p:ph type="title"/>
          </p:nvPr>
        </p:nvSpPr>
        <p:spPr>
          <a:xfrm>
            <a:off x="0" y="1"/>
            <a:ext cx="12192000" cy="6766560"/>
          </a:xfrm>
        </p:spPr>
        <p:txBody>
          <a:bodyPr>
            <a:normAutofit/>
          </a:bodyPr>
          <a:lstStyle/>
          <a:p>
            <a:pPr marL="571500" indent="-571500">
              <a:buFont typeface="Wingdings" panose="05000000000000000000" pitchFamily="2" charset="2"/>
              <a:buChar char="q"/>
            </a:pPr>
            <a:r>
              <a:rPr lang="en-IN" sz="4000" b="1" i="1" u="sng" dirty="0"/>
              <a:t>Key Performance Indicators (KPIs)</a:t>
            </a:r>
            <a:br>
              <a:rPr lang="en-IN" sz="4000" b="1" i="1" u="sng" dirty="0"/>
            </a:br>
            <a:r>
              <a:rPr lang="en-IN" sz="2800" b="1" i="1" u="sng" dirty="0"/>
              <a:t>KPIs Used</a:t>
            </a:r>
            <a:br>
              <a:rPr lang="en-IN" sz="2800" b="1" i="1" u="sng" dirty="0"/>
            </a:br>
            <a:br>
              <a:rPr lang="en-IN" sz="1600" b="1" dirty="0"/>
            </a:br>
            <a:r>
              <a:rPr lang="en-IN" sz="2400" dirty="0"/>
              <a:t>1)  </a:t>
            </a:r>
            <a:r>
              <a:rPr lang="en-IN" sz="2400" b="1" dirty="0"/>
              <a:t>Total Sales</a:t>
            </a:r>
            <a:br>
              <a:rPr lang="en-IN" sz="2400" b="1" dirty="0"/>
            </a:br>
            <a:r>
              <a:rPr lang="en-IN" sz="2400" b="1" dirty="0"/>
              <a:t>      </a:t>
            </a:r>
            <a:r>
              <a:rPr lang="en-IN" sz="2400" dirty="0"/>
              <a:t>Displays total revenue generated during the selected period.</a:t>
            </a:r>
            <a:br>
              <a:rPr lang="en-IN" sz="2400" dirty="0"/>
            </a:br>
            <a:br>
              <a:rPr lang="en-IN" sz="2400" dirty="0"/>
            </a:br>
            <a:r>
              <a:rPr lang="en-IN" sz="2400" dirty="0"/>
              <a:t>2)  </a:t>
            </a:r>
            <a:r>
              <a:rPr lang="en-IN" sz="2400" b="1" dirty="0"/>
              <a:t>Total Profit</a:t>
            </a:r>
            <a:br>
              <a:rPr lang="en-IN" sz="2400" b="1" dirty="0"/>
            </a:br>
            <a:r>
              <a:rPr lang="en-IN" sz="2400" b="1" dirty="0"/>
              <a:t>      </a:t>
            </a:r>
            <a:r>
              <a:rPr lang="en-IN" sz="2400" dirty="0"/>
              <a:t>Shows overall business profitability.</a:t>
            </a:r>
            <a:br>
              <a:rPr lang="en-IN" sz="2400" dirty="0"/>
            </a:br>
            <a:br>
              <a:rPr lang="en-IN" sz="2400" dirty="0"/>
            </a:br>
            <a:r>
              <a:rPr lang="en-IN" sz="2400" dirty="0"/>
              <a:t>3)  </a:t>
            </a:r>
            <a:r>
              <a:rPr lang="en-IN" sz="2400" b="1" dirty="0"/>
              <a:t>Total Orders</a:t>
            </a:r>
            <a:br>
              <a:rPr lang="en-IN" sz="2400" b="1" dirty="0"/>
            </a:br>
            <a:r>
              <a:rPr lang="en-IN" sz="2400" b="1" dirty="0"/>
              <a:t>      </a:t>
            </a:r>
            <a:r>
              <a:rPr lang="en-IN" sz="2400" dirty="0"/>
              <a:t>Displays the total number of customer orders.</a:t>
            </a:r>
            <a:br>
              <a:rPr lang="en-IN" sz="2400" dirty="0"/>
            </a:br>
            <a:br>
              <a:rPr lang="en-IN" sz="2400" dirty="0"/>
            </a:br>
            <a:r>
              <a:rPr lang="en-IN" sz="2400" dirty="0"/>
              <a:t>4)  </a:t>
            </a:r>
            <a:r>
              <a:rPr lang="en-IN" sz="2400" b="1" dirty="0"/>
              <a:t>Profit Margin</a:t>
            </a:r>
            <a:br>
              <a:rPr lang="en-IN" sz="2400" b="1" dirty="0"/>
            </a:br>
            <a:r>
              <a:rPr lang="en-IN" sz="2400" b="1" dirty="0"/>
              <a:t>      </a:t>
            </a:r>
            <a:r>
              <a:rPr lang="en-IN" sz="2400" dirty="0"/>
              <a:t>Measures profitability relative to total sales.</a:t>
            </a:r>
            <a:br>
              <a:rPr lang="en-IN" sz="2400" dirty="0"/>
            </a:br>
            <a:br>
              <a:rPr lang="en-IN" sz="2400" dirty="0"/>
            </a:br>
            <a:r>
              <a:rPr lang="en-IN" sz="2400" dirty="0"/>
              <a:t>These KPIs provide an executive summary of business performance.</a:t>
            </a:r>
            <a:br>
              <a:rPr lang="en-IN" sz="2400" dirty="0"/>
            </a:br>
            <a:endParaRPr lang="en-IN" sz="2400" dirty="0"/>
          </a:p>
        </p:txBody>
      </p:sp>
    </p:spTree>
    <p:extLst>
      <p:ext uri="{BB962C8B-B14F-4D97-AF65-F5344CB8AC3E}">
        <p14:creationId xmlns:p14="http://schemas.microsoft.com/office/powerpoint/2010/main" val="1073664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831BC-9178-413D-009F-E5EFDDAAE5C6}"/>
              </a:ext>
            </a:extLst>
          </p:cNvPr>
          <p:cNvSpPr>
            <a:spLocks noGrp="1"/>
          </p:cNvSpPr>
          <p:nvPr>
            <p:ph type="title"/>
          </p:nvPr>
        </p:nvSpPr>
        <p:spPr>
          <a:xfrm>
            <a:off x="0" y="101601"/>
            <a:ext cx="12192000" cy="6675120"/>
          </a:xfrm>
        </p:spPr>
        <p:txBody>
          <a:bodyPr>
            <a:normAutofit/>
          </a:bodyPr>
          <a:lstStyle/>
          <a:p>
            <a:pPr marL="571500" indent="-571500">
              <a:buFont typeface="Wingdings" panose="05000000000000000000" pitchFamily="2" charset="2"/>
              <a:buChar char="q"/>
            </a:pPr>
            <a:r>
              <a:rPr lang="en-IN" sz="4000" b="1" i="1" u="sng" dirty="0"/>
              <a:t>Dashboard Insights</a:t>
            </a:r>
            <a:br>
              <a:rPr lang="en-IN" sz="1400" b="1" dirty="0"/>
            </a:br>
            <a:br>
              <a:rPr lang="en-IN" sz="1400" dirty="0"/>
            </a:br>
            <a:r>
              <a:rPr lang="en-IN" sz="2800" b="1" dirty="0"/>
              <a:t>Key Business Insights:</a:t>
            </a:r>
            <a:br>
              <a:rPr lang="en-IN" sz="2800" b="1" dirty="0"/>
            </a:br>
            <a:br>
              <a:rPr lang="en-IN" sz="1400" b="1" dirty="0"/>
            </a:br>
            <a:r>
              <a:rPr lang="en-IN" sz="2400" dirty="0"/>
              <a:t>1)  Technology category contributes the highest sales. </a:t>
            </a:r>
            <a:br>
              <a:rPr lang="en-IN" sz="2400" dirty="0"/>
            </a:br>
            <a:r>
              <a:rPr lang="en-IN" sz="2400" dirty="0"/>
              <a:t>2)  West region generates the highest profit. </a:t>
            </a:r>
            <a:br>
              <a:rPr lang="en-IN" sz="2400" dirty="0"/>
            </a:br>
            <a:r>
              <a:rPr lang="en-IN" sz="2400" dirty="0"/>
              <a:t>3)  Consumer segment contributes the largest share of revenue. </a:t>
            </a:r>
            <a:br>
              <a:rPr lang="en-IN" sz="2400" dirty="0"/>
            </a:br>
            <a:r>
              <a:rPr lang="en-IN" sz="2400" dirty="0"/>
              <a:t>4)  Sales increase during year-end months. </a:t>
            </a:r>
            <a:br>
              <a:rPr lang="en-IN" sz="2400" dirty="0"/>
            </a:br>
            <a:r>
              <a:rPr lang="en-IN" sz="2400" dirty="0"/>
              <a:t>5)  Heavy discounts reduce profitability for some products. </a:t>
            </a:r>
            <a:br>
              <a:rPr lang="en-IN" sz="2400" dirty="0"/>
            </a:br>
            <a:r>
              <a:rPr lang="en-IN" sz="2400" dirty="0"/>
              <a:t>6)  These insights help stakeholders identify opportunities and improve business </a:t>
            </a:r>
            <a:br>
              <a:rPr lang="en-IN" sz="2400" dirty="0"/>
            </a:br>
            <a:r>
              <a:rPr lang="en-IN" sz="2400" dirty="0"/>
              <a:t>      performance</a:t>
            </a:r>
            <a:br>
              <a:rPr lang="en-IN" sz="2400" dirty="0"/>
            </a:br>
            <a:endParaRPr lang="en-IN" sz="2400" dirty="0"/>
          </a:p>
        </p:txBody>
      </p:sp>
    </p:spTree>
    <p:extLst>
      <p:ext uri="{BB962C8B-B14F-4D97-AF65-F5344CB8AC3E}">
        <p14:creationId xmlns:p14="http://schemas.microsoft.com/office/powerpoint/2010/main" val="1562352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1650-3EB7-8D84-902D-156D3F07D702}"/>
              </a:ext>
            </a:extLst>
          </p:cNvPr>
          <p:cNvSpPr>
            <a:spLocks noGrp="1"/>
          </p:cNvSpPr>
          <p:nvPr>
            <p:ph type="title"/>
          </p:nvPr>
        </p:nvSpPr>
        <p:spPr>
          <a:xfrm>
            <a:off x="0" y="81281"/>
            <a:ext cx="12192000" cy="6776720"/>
          </a:xfrm>
        </p:spPr>
        <p:txBody>
          <a:bodyPr>
            <a:normAutofit/>
          </a:bodyPr>
          <a:lstStyle/>
          <a:p>
            <a:pPr marL="571500" indent="-571500">
              <a:buFont typeface="Wingdings" panose="05000000000000000000" pitchFamily="2" charset="2"/>
              <a:buChar char="q"/>
            </a:pPr>
            <a:r>
              <a:rPr lang="en-IN" sz="4000" b="1" i="1" u="sng" dirty="0"/>
              <a:t>Business Recommendations:</a:t>
            </a:r>
            <a:br>
              <a:rPr lang="en-IN" sz="4000" b="1" i="1" u="sng" dirty="0"/>
            </a:br>
            <a:br>
              <a:rPr lang="en-IN" sz="1600" b="1" dirty="0"/>
            </a:br>
            <a:r>
              <a:rPr lang="en-IN" sz="2400" dirty="0"/>
              <a:t>Based on the dashboard analysis:</a:t>
            </a:r>
            <a:br>
              <a:rPr lang="en-IN" sz="2400" dirty="0"/>
            </a:br>
            <a:br>
              <a:rPr lang="en-IN" sz="2400" dirty="0"/>
            </a:br>
            <a:r>
              <a:rPr lang="en-IN" sz="2400" dirty="0"/>
              <a:t>1)  </a:t>
            </a:r>
            <a:r>
              <a:rPr lang="en-IN" sz="2400" b="1" dirty="0"/>
              <a:t>Increase Investment</a:t>
            </a:r>
            <a:br>
              <a:rPr lang="en-IN" sz="2400" b="1" dirty="0"/>
            </a:br>
            <a:r>
              <a:rPr lang="en-IN" sz="2400" b="1" dirty="0"/>
              <a:t>      </a:t>
            </a:r>
            <a:r>
              <a:rPr lang="en-IN" sz="2400" dirty="0"/>
              <a:t>Focus marketing campaigns on high-performing regions.</a:t>
            </a:r>
            <a:br>
              <a:rPr lang="en-IN" sz="2400" dirty="0"/>
            </a:br>
            <a:br>
              <a:rPr lang="en-IN" sz="2400" dirty="0"/>
            </a:br>
            <a:r>
              <a:rPr lang="en-IN" sz="2400" dirty="0"/>
              <a:t>2)  </a:t>
            </a:r>
            <a:r>
              <a:rPr lang="en-IN" sz="2400" b="1" dirty="0"/>
              <a:t>Improve Profitability</a:t>
            </a:r>
            <a:br>
              <a:rPr lang="en-IN" sz="2400" b="1" dirty="0"/>
            </a:br>
            <a:r>
              <a:rPr lang="en-IN" sz="2400" b="1" dirty="0"/>
              <a:t>     </a:t>
            </a:r>
            <a:r>
              <a:rPr lang="en-IN" sz="2400" dirty="0"/>
              <a:t>Reduce excessive discounts on low-margin products.</a:t>
            </a:r>
            <a:br>
              <a:rPr lang="en-IN" sz="2400" dirty="0"/>
            </a:br>
            <a:br>
              <a:rPr lang="en-IN" sz="2400" dirty="0"/>
            </a:br>
            <a:r>
              <a:rPr lang="en-IN" sz="2400" dirty="0"/>
              <a:t>3)  </a:t>
            </a:r>
            <a:r>
              <a:rPr lang="en-IN" sz="2400" b="1" dirty="0"/>
              <a:t>Inventory Planning</a:t>
            </a:r>
            <a:br>
              <a:rPr lang="en-IN" sz="2400" b="1" dirty="0"/>
            </a:br>
            <a:r>
              <a:rPr lang="en-IN" sz="2400" b="1" dirty="0"/>
              <a:t>      </a:t>
            </a:r>
            <a:r>
              <a:rPr lang="en-IN" sz="2400" dirty="0"/>
              <a:t>Maintain sufficient inventory for top-selling products.</a:t>
            </a:r>
            <a:br>
              <a:rPr lang="en-IN" sz="2400" dirty="0"/>
            </a:br>
            <a:br>
              <a:rPr lang="en-IN" sz="2400" dirty="0"/>
            </a:br>
            <a:r>
              <a:rPr lang="en-IN" sz="2400" dirty="0"/>
              <a:t>4)  </a:t>
            </a:r>
            <a:r>
              <a:rPr lang="en-IN" sz="2400" b="1" dirty="0"/>
              <a:t>Customer Strategy</a:t>
            </a:r>
            <a:br>
              <a:rPr lang="en-IN" sz="2400" b="1" dirty="0"/>
            </a:br>
            <a:r>
              <a:rPr lang="en-IN" sz="2400" b="1" dirty="0"/>
              <a:t>      </a:t>
            </a:r>
            <a:r>
              <a:rPr lang="en-IN" sz="2400" dirty="0"/>
              <a:t>Develop targeted campaigns for profitable customer segments.</a:t>
            </a:r>
            <a:br>
              <a:rPr lang="en-IN" sz="2400" dirty="0"/>
            </a:br>
            <a:br>
              <a:rPr lang="en-IN" sz="2400" dirty="0"/>
            </a:br>
            <a:r>
              <a:rPr lang="en-IN" sz="2400" dirty="0"/>
              <a:t>5)  </a:t>
            </a:r>
            <a:r>
              <a:rPr lang="en-IN" sz="2400" b="1" dirty="0"/>
              <a:t>Performance Monitoring</a:t>
            </a:r>
            <a:br>
              <a:rPr lang="en-IN" sz="2400" b="1" dirty="0"/>
            </a:br>
            <a:r>
              <a:rPr lang="en-IN" sz="2400" b="1" dirty="0"/>
              <a:t>     </a:t>
            </a:r>
            <a:r>
              <a:rPr lang="en-IN" sz="2400" dirty="0"/>
              <a:t>Use the dashboard regularly to track business KPIs.</a:t>
            </a:r>
            <a:br>
              <a:rPr lang="en-IN" sz="2400" dirty="0"/>
            </a:br>
            <a:endParaRPr lang="en-IN" sz="2400" dirty="0"/>
          </a:p>
        </p:txBody>
      </p:sp>
    </p:spTree>
    <p:extLst>
      <p:ext uri="{BB962C8B-B14F-4D97-AF65-F5344CB8AC3E}">
        <p14:creationId xmlns:p14="http://schemas.microsoft.com/office/powerpoint/2010/main" val="3185583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0E11C-A317-ECCF-7EBC-BE2121A5CC2A}"/>
              </a:ext>
            </a:extLst>
          </p:cNvPr>
          <p:cNvSpPr>
            <a:spLocks noGrp="1"/>
          </p:cNvSpPr>
          <p:nvPr>
            <p:ph type="title"/>
          </p:nvPr>
        </p:nvSpPr>
        <p:spPr>
          <a:xfrm>
            <a:off x="0" y="1"/>
            <a:ext cx="12192000" cy="6858000"/>
          </a:xfrm>
        </p:spPr>
        <p:txBody>
          <a:bodyPr>
            <a:normAutofit fontScale="90000"/>
          </a:bodyPr>
          <a:lstStyle/>
          <a:p>
            <a:pPr marL="571500" indent="-571500">
              <a:buFont typeface="Wingdings" panose="05000000000000000000" pitchFamily="2" charset="2"/>
              <a:buChar char="q"/>
            </a:pPr>
            <a:r>
              <a:rPr lang="en-IN" sz="4000" b="1" i="1" u="sng" dirty="0"/>
              <a:t>Tools &amp; Technologies:</a:t>
            </a:r>
            <a:br>
              <a:rPr lang="en-IN" sz="4000" b="1" i="1" u="sng" dirty="0"/>
            </a:br>
            <a:br>
              <a:rPr lang="en-IN" sz="1800" b="1" dirty="0"/>
            </a:br>
            <a:r>
              <a:rPr lang="en-IN" sz="2400" b="1" dirty="0"/>
              <a:t>1)  Software</a:t>
            </a:r>
            <a:br>
              <a:rPr lang="en-IN" sz="2400" b="1" dirty="0"/>
            </a:br>
            <a:r>
              <a:rPr lang="en-IN" sz="2400" b="1" dirty="0"/>
              <a:t>      </a:t>
            </a:r>
            <a:r>
              <a:rPr lang="en-IN" sz="2400" dirty="0"/>
              <a:t>Power BI Desktop </a:t>
            </a:r>
            <a:br>
              <a:rPr lang="en-IN" sz="2400" dirty="0"/>
            </a:br>
            <a:br>
              <a:rPr lang="en-IN" sz="2400" dirty="0"/>
            </a:br>
            <a:r>
              <a:rPr lang="en-IN" sz="2400" b="1" dirty="0"/>
              <a:t>2)  Programming</a:t>
            </a:r>
            <a:br>
              <a:rPr lang="en-IN" sz="2400" b="1" dirty="0"/>
            </a:br>
            <a:r>
              <a:rPr lang="en-IN" sz="2400" b="1" dirty="0"/>
              <a:t>      </a:t>
            </a:r>
            <a:r>
              <a:rPr lang="en-IN" sz="2400" dirty="0"/>
              <a:t>DAX (Data Analysis Expressions) </a:t>
            </a:r>
            <a:br>
              <a:rPr lang="en-IN" sz="2400" dirty="0"/>
            </a:br>
            <a:br>
              <a:rPr lang="en-IN" sz="2400" dirty="0"/>
            </a:br>
            <a:r>
              <a:rPr lang="en-IN" sz="2400" b="1" dirty="0"/>
              <a:t>3)  Data Source</a:t>
            </a:r>
            <a:br>
              <a:rPr lang="en-IN" sz="2400" b="1" dirty="0"/>
            </a:br>
            <a:r>
              <a:rPr lang="en-IN" sz="2400" b="1" dirty="0"/>
              <a:t>      </a:t>
            </a:r>
            <a:r>
              <a:rPr lang="en-IN" sz="2400" dirty="0"/>
              <a:t>CSV Dataset </a:t>
            </a:r>
            <a:br>
              <a:rPr lang="en-IN" sz="2400" dirty="0"/>
            </a:br>
            <a:br>
              <a:rPr lang="en-IN" sz="2400" dirty="0"/>
            </a:br>
            <a:r>
              <a:rPr lang="en-IN" sz="2400" b="1" dirty="0"/>
              <a:t>4)  Version Control</a:t>
            </a:r>
            <a:br>
              <a:rPr lang="en-IN" sz="2400" b="1" dirty="0"/>
            </a:br>
            <a:r>
              <a:rPr lang="en-IN" sz="2400" b="1" dirty="0"/>
              <a:t>      </a:t>
            </a:r>
            <a:r>
              <a:rPr lang="en-IN" sz="2400" dirty="0"/>
              <a:t>GitHub </a:t>
            </a:r>
            <a:br>
              <a:rPr lang="en-IN" sz="2400" dirty="0"/>
            </a:br>
            <a:br>
              <a:rPr lang="en-IN" sz="2400" dirty="0"/>
            </a:br>
            <a:r>
              <a:rPr lang="en-IN" sz="2400" b="1" dirty="0"/>
              <a:t>5)  Skills Demonstrated</a:t>
            </a:r>
            <a:br>
              <a:rPr lang="en-IN" sz="2400" b="1" dirty="0"/>
            </a:br>
            <a:r>
              <a:rPr lang="en-IN" sz="2400" b="1" dirty="0"/>
              <a:t>      </a:t>
            </a:r>
            <a:r>
              <a:rPr lang="en-IN" sz="2400" dirty="0"/>
              <a:t>Dashboard Design </a:t>
            </a:r>
            <a:br>
              <a:rPr lang="en-IN" sz="2400" dirty="0"/>
            </a:br>
            <a:r>
              <a:rPr lang="en-IN" sz="2400" dirty="0"/>
              <a:t>      Data Visualization </a:t>
            </a:r>
            <a:br>
              <a:rPr lang="en-IN" sz="2400" dirty="0"/>
            </a:br>
            <a:r>
              <a:rPr lang="en-IN" sz="2400" dirty="0"/>
              <a:t>      Business Intelligence </a:t>
            </a:r>
            <a:br>
              <a:rPr lang="en-IN" sz="2400" dirty="0"/>
            </a:br>
            <a:r>
              <a:rPr lang="en-IN" sz="2400" dirty="0"/>
              <a:t>      KPI Development </a:t>
            </a:r>
            <a:br>
              <a:rPr lang="en-IN" sz="2400" dirty="0"/>
            </a:br>
            <a:r>
              <a:rPr lang="en-IN" sz="2400" dirty="0"/>
              <a:t>      Data Analysis </a:t>
            </a:r>
            <a:br>
              <a:rPr lang="en-IN" sz="2400" dirty="0"/>
            </a:br>
            <a:r>
              <a:rPr lang="en-IN" sz="2400" dirty="0"/>
              <a:t>      Interactive Reporting</a:t>
            </a:r>
            <a:br>
              <a:rPr lang="en-IN" sz="2400" dirty="0"/>
            </a:br>
            <a:endParaRPr lang="en-IN" sz="2400" dirty="0"/>
          </a:p>
        </p:txBody>
      </p:sp>
    </p:spTree>
    <p:extLst>
      <p:ext uri="{BB962C8B-B14F-4D97-AF65-F5344CB8AC3E}">
        <p14:creationId xmlns:p14="http://schemas.microsoft.com/office/powerpoint/2010/main" val="3321192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4125A-F958-80D2-035D-CEBBFCEE71E5}"/>
              </a:ext>
            </a:extLst>
          </p:cNvPr>
          <p:cNvSpPr>
            <a:spLocks noGrp="1"/>
          </p:cNvSpPr>
          <p:nvPr>
            <p:ph type="title"/>
          </p:nvPr>
        </p:nvSpPr>
        <p:spPr>
          <a:xfrm>
            <a:off x="0" y="1"/>
            <a:ext cx="12192000" cy="6858000"/>
          </a:xfrm>
        </p:spPr>
        <p:txBody>
          <a:bodyPr>
            <a:normAutofit/>
          </a:bodyPr>
          <a:lstStyle/>
          <a:p>
            <a:pPr marL="571500" indent="-571500">
              <a:buFont typeface="Wingdings" panose="05000000000000000000" pitchFamily="2" charset="2"/>
              <a:buChar char="q"/>
            </a:pPr>
            <a:r>
              <a:rPr lang="en-IN" sz="4000" b="1" i="1" u="sng" dirty="0"/>
              <a:t>Challenges &amp; Learnings:</a:t>
            </a:r>
            <a:br>
              <a:rPr lang="en-IN" sz="4000" b="1" i="1" u="sng" dirty="0"/>
            </a:br>
            <a:br>
              <a:rPr lang="en-IN" sz="1600" b="1" dirty="0"/>
            </a:br>
            <a:r>
              <a:rPr lang="en-IN" sz="2400" b="1" i="1" u="sng" dirty="0"/>
              <a:t>Challenges Faced</a:t>
            </a:r>
            <a:br>
              <a:rPr lang="en-IN" sz="2800" b="1" i="1" u="sng" dirty="0"/>
            </a:br>
            <a:br>
              <a:rPr lang="en-IN" sz="1600" b="1" dirty="0"/>
            </a:br>
            <a:r>
              <a:rPr lang="en-IN" sz="2400" dirty="0"/>
              <a:t>1)  Understanding Power BI visual interactions </a:t>
            </a:r>
            <a:br>
              <a:rPr lang="en-IN" sz="2400" dirty="0"/>
            </a:br>
            <a:r>
              <a:rPr lang="en-IN" sz="2400" dirty="0"/>
              <a:t>2)  Creating DAX measures </a:t>
            </a:r>
            <a:br>
              <a:rPr lang="en-IN" sz="2400" dirty="0"/>
            </a:br>
            <a:r>
              <a:rPr lang="en-IN" sz="2400" dirty="0"/>
              <a:t>3)  Selecting appropriate chart types </a:t>
            </a:r>
            <a:br>
              <a:rPr lang="en-IN" sz="2400" dirty="0"/>
            </a:br>
            <a:r>
              <a:rPr lang="en-IN" sz="2400" dirty="0"/>
              <a:t>4)  Maintaining dashboard consistency </a:t>
            </a:r>
            <a:br>
              <a:rPr lang="en-IN" sz="2400" dirty="0"/>
            </a:br>
            <a:br>
              <a:rPr lang="en-IN" sz="2400" dirty="0"/>
            </a:br>
            <a:r>
              <a:rPr lang="en-IN" sz="2400" b="1" i="1" u="sng" dirty="0"/>
              <a:t>Learnings</a:t>
            </a:r>
            <a:br>
              <a:rPr lang="en-IN" sz="2400" b="1" i="1" u="sng" dirty="0"/>
            </a:br>
            <a:br>
              <a:rPr lang="en-IN" sz="2400" b="1" dirty="0"/>
            </a:br>
            <a:r>
              <a:rPr lang="en-IN" sz="2400" dirty="0"/>
              <a:t>1)  Power BI Dashboard Design </a:t>
            </a:r>
            <a:br>
              <a:rPr lang="en-IN" sz="2400" dirty="0"/>
            </a:br>
            <a:r>
              <a:rPr lang="en-IN" sz="2400" dirty="0"/>
              <a:t>2)  Interactive Reporting </a:t>
            </a:r>
            <a:br>
              <a:rPr lang="en-IN" sz="2400" dirty="0"/>
            </a:br>
            <a:r>
              <a:rPr lang="en-IN" sz="2400" dirty="0"/>
              <a:t>3)  Business Storytelling </a:t>
            </a:r>
            <a:br>
              <a:rPr lang="en-IN" sz="2400" dirty="0"/>
            </a:br>
            <a:r>
              <a:rPr lang="en-IN" sz="2400" dirty="0"/>
              <a:t>4)  KPI Development </a:t>
            </a:r>
            <a:br>
              <a:rPr lang="en-IN" sz="2400" dirty="0"/>
            </a:br>
            <a:r>
              <a:rPr lang="en-IN" sz="2400" dirty="0"/>
              <a:t>5)  DAX Functions </a:t>
            </a:r>
            <a:br>
              <a:rPr lang="en-IN" sz="2400" dirty="0"/>
            </a:br>
            <a:r>
              <a:rPr lang="en-IN" sz="2400" dirty="0"/>
              <a:t>6)  Business Analytics</a:t>
            </a:r>
            <a:br>
              <a:rPr lang="en-IN" sz="2400" dirty="0"/>
            </a:br>
            <a:endParaRPr lang="en-IN" sz="2400" dirty="0"/>
          </a:p>
        </p:txBody>
      </p:sp>
    </p:spTree>
    <p:extLst>
      <p:ext uri="{BB962C8B-B14F-4D97-AF65-F5344CB8AC3E}">
        <p14:creationId xmlns:p14="http://schemas.microsoft.com/office/powerpoint/2010/main" val="3573752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5E500-8F32-904B-1EBD-9AE06FC19861}"/>
              </a:ext>
            </a:extLst>
          </p:cNvPr>
          <p:cNvSpPr>
            <a:spLocks noGrp="1"/>
          </p:cNvSpPr>
          <p:nvPr>
            <p:ph type="title"/>
          </p:nvPr>
        </p:nvSpPr>
        <p:spPr>
          <a:xfrm>
            <a:off x="0" y="1"/>
            <a:ext cx="12192000" cy="6858000"/>
          </a:xfrm>
        </p:spPr>
        <p:txBody>
          <a:bodyPr>
            <a:normAutofit/>
          </a:bodyPr>
          <a:lstStyle/>
          <a:p>
            <a:pPr marL="571500" indent="-571500">
              <a:buFont typeface="Wingdings" panose="05000000000000000000" pitchFamily="2" charset="2"/>
              <a:buChar char="q"/>
            </a:pPr>
            <a:r>
              <a:rPr lang="en-IN" sz="4000" b="1" i="1" u="sng" dirty="0"/>
              <a:t>Future Enhancements:</a:t>
            </a:r>
            <a:br>
              <a:rPr lang="en-IN" sz="4000" b="1" i="1" u="sng" dirty="0"/>
            </a:br>
            <a:br>
              <a:rPr lang="en-IN" sz="1200" b="1" dirty="0"/>
            </a:br>
            <a:r>
              <a:rPr lang="en-IN" sz="2400" dirty="0"/>
              <a:t>Possible future improvements include:</a:t>
            </a:r>
            <a:br>
              <a:rPr lang="en-IN" sz="2400" dirty="0"/>
            </a:br>
            <a:br>
              <a:rPr lang="en-IN" sz="2400" dirty="0"/>
            </a:br>
            <a:r>
              <a:rPr lang="en-IN" sz="2400" dirty="0"/>
              <a:t>1)  Sales Forecasting </a:t>
            </a:r>
            <a:br>
              <a:rPr lang="en-IN" sz="2400" dirty="0"/>
            </a:br>
            <a:r>
              <a:rPr lang="en-IN" sz="2400" dirty="0"/>
              <a:t>2)  Customer Lifetime Value Analysis </a:t>
            </a:r>
            <a:br>
              <a:rPr lang="en-IN" sz="2400" dirty="0"/>
            </a:br>
            <a:r>
              <a:rPr lang="en-IN" sz="2400" dirty="0"/>
              <a:t>3)  Drill-through Reports </a:t>
            </a:r>
            <a:br>
              <a:rPr lang="en-IN" sz="2400" dirty="0"/>
            </a:br>
            <a:r>
              <a:rPr lang="en-IN" sz="2400" dirty="0"/>
              <a:t>4)  Mobile Dashboard Layout </a:t>
            </a:r>
            <a:br>
              <a:rPr lang="en-IN" sz="2400" dirty="0"/>
            </a:br>
            <a:r>
              <a:rPr lang="en-IN" sz="2400" dirty="0"/>
              <a:t>5)  Executive Dashboard </a:t>
            </a:r>
            <a:br>
              <a:rPr lang="en-IN" sz="2400" dirty="0"/>
            </a:br>
            <a:r>
              <a:rPr lang="en-IN" sz="2400" dirty="0"/>
              <a:t>6)  AI-based Insights </a:t>
            </a:r>
            <a:br>
              <a:rPr lang="en-IN" sz="2400" dirty="0"/>
            </a:br>
            <a:r>
              <a:rPr lang="en-IN" sz="2400" dirty="0"/>
              <a:t>7)  Real-time Data Integration </a:t>
            </a:r>
            <a:br>
              <a:rPr lang="en-IN" sz="2400" dirty="0"/>
            </a:br>
            <a:r>
              <a:rPr lang="en-IN" sz="2400" dirty="0"/>
              <a:t>8)  Advanced DAX Measures</a:t>
            </a:r>
            <a:br>
              <a:rPr lang="en-IN" sz="1200" dirty="0"/>
            </a:br>
            <a:endParaRPr lang="en-IN" sz="1200" dirty="0"/>
          </a:p>
        </p:txBody>
      </p:sp>
    </p:spTree>
    <p:extLst>
      <p:ext uri="{BB962C8B-B14F-4D97-AF65-F5344CB8AC3E}">
        <p14:creationId xmlns:p14="http://schemas.microsoft.com/office/powerpoint/2010/main" val="3933885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D41B7-7566-28AC-F59F-BB3AA3EA3994}"/>
              </a:ext>
            </a:extLst>
          </p:cNvPr>
          <p:cNvSpPr>
            <a:spLocks noGrp="1"/>
          </p:cNvSpPr>
          <p:nvPr>
            <p:ph type="title"/>
          </p:nvPr>
        </p:nvSpPr>
        <p:spPr>
          <a:xfrm>
            <a:off x="0" y="1"/>
            <a:ext cx="12192000" cy="6858000"/>
          </a:xfrm>
        </p:spPr>
        <p:txBody>
          <a:bodyPr>
            <a:normAutofit/>
          </a:bodyPr>
          <a:lstStyle/>
          <a:p>
            <a:pPr marL="571500" indent="-571500">
              <a:buFont typeface="Wingdings" panose="05000000000000000000" pitchFamily="2" charset="2"/>
              <a:buChar char="q"/>
            </a:pPr>
            <a:r>
              <a:rPr lang="en-IN" sz="4000" b="1" i="1" u="sng" dirty="0"/>
              <a:t>Conclusion:</a:t>
            </a:r>
            <a:br>
              <a:rPr lang="en-IN" sz="4000" b="1" i="1" u="sng" dirty="0"/>
            </a:br>
            <a:br>
              <a:rPr lang="en-IN" sz="1600" b="1" dirty="0"/>
            </a:br>
            <a:r>
              <a:rPr lang="en-IN" sz="2800" b="1" i="1" u="sng" dirty="0"/>
              <a:t>Project Summary</a:t>
            </a:r>
            <a:br>
              <a:rPr lang="en-IN" sz="2800" b="1" i="1" u="sng" dirty="0"/>
            </a:br>
            <a:br>
              <a:rPr lang="en-IN" sz="2400" b="1" dirty="0"/>
            </a:br>
            <a:r>
              <a:rPr lang="en-IN" sz="2400" dirty="0"/>
              <a:t>This project demonstrates how Power BI transforms raw sales data into meaningful business insights through interactive dashboards.</a:t>
            </a:r>
            <a:br>
              <a:rPr lang="en-IN" sz="2400" dirty="0"/>
            </a:br>
            <a:br>
              <a:rPr lang="en-IN" sz="2400" dirty="0"/>
            </a:br>
            <a:r>
              <a:rPr lang="en-IN" sz="2400" dirty="0"/>
              <a:t>The dashboard enables stakeholders to:</a:t>
            </a:r>
            <a:br>
              <a:rPr lang="en-IN" sz="2400" dirty="0"/>
            </a:br>
            <a:r>
              <a:rPr lang="en-IN" sz="2400" dirty="0"/>
              <a:t>1)  Monitor KPIs </a:t>
            </a:r>
            <a:br>
              <a:rPr lang="en-IN" sz="2400" dirty="0"/>
            </a:br>
            <a:r>
              <a:rPr lang="en-IN" sz="2400" dirty="0"/>
              <a:t>2)  Analyse trends </a:t>
            </a:r>
            <a:br>
              <a:rPr lang="en-IN" sz="2400" dirty="0"/>
            </a:br>
            <a:r>
              <a:rPr lang="en-IN" sz="2400" dirty="0"/>
              <a:t>3)  Compare regional performance </a:t>
            </a:r>
            <a:br>
              <a:rPr lang="en-IN" sz="2400" dirty="0"/>
            </a:br>
            <a:r>
              <a:rPr lang="en-IN" sz="2400" dirty="0"/>
              <a:t>4)  Identify profitable products </a:t>
            </a:r>
            <a:br>
              <a:rPr lang="en-IN" sz="2400" dirty="0"/>
            </a:br>
            <a:r>
              <a:rPr lang="en-IN" sz="2400" dirty="0"/>
              <a:t>5)  Make data-driven decisions </a:t>
            </a:r>
            <a:br>
              <a:rPr lang="en-IN" sz="2400" dirty="0"/>
            </a:br>
            <a:br>
              <a:rPr lang="en-IN" sz="2400" dirty="0"/>
            </a:br>
            <a:r>
              <a:rPr lang="en-IN" sz="2400" dirty="0"/>
              <a:t>Overall, the project showcases practical skills in Power BI, DAX, and business analytics.</a:t>
            </a:r>
            <a:br>
              <a:rPr lang="en-IN" sz="2400" dirty="0"/>
            </a:br>
            <a:endParaRPr lang="en-IN" sz="2400" dirty="0"/>
          </a:p>
        </p:txBody>
      </p:sp>
    </p:spTree>
    <p:extLst>
      <p:ext uri="{BB962C8B-B14F-4D97-AF65-F5344CB8AC3E}">
        <p14:creationId xmlns:p14="http://schemas.microsoft.com/office/powerpoint/2010/main" val="1488716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991</Words>
  <Application>Microsoft Office PowerPoint</Application>
  <PresentationFormat>Widescreen</PresentationFormat>
  <Paragraphs>17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Wingdings</vt:lpstr>
      <vt:lpstr>Office Theme</vt:lpstr>
      <vt:lpstr>Sales Performance Dashboard</vt:lpstr>
      <vt:lpstr>Objective  The objective of this project is to design an interactive Sales Performance Dashboard using Power BI that enables stakeholders to monitor business performance and make informed decisions.  The dashboard provides: 1)   Real-time business KPIs  2)   Sales performance monitoring  3)   Profitability analysis  4)   Regional comparison  5)   Customer segment analysis  6)   Product performance insights  </vt:lpstr>
      <vt:lpstr>Problem Statement  Businesses generate thousands of sales transactions every day. Raw data alone does not provide meaningful insights for decision-making.  Without an interactive dashboard: 1)  Sales trends are difficult to identify.  2)  Regional performance cannot be compared easily.  3)  Profitable products remain hidden.  4)  Management spends significant time preparing reports.  5)  Decision-making becomes slower.   Solution Develop a Power BI dashboard that converts raw sales data into meaningful visual insights through KPIs, charts, and interactive filters. </vt:lpstr>
      <vt:lpstr>Dataset Used Sample Superstore Dataset  The dataset contains approximately 9,994 sales records with multiple business attributes. Important Columns 1)   Order Date  2)   Ship Date  3)   Sales  4)   Profit  5)   Quantity  6)   Discount  7)   Category  8)   Sub-Category  9)   Product Name  10) Customer Segment  11) Region  12) State  13) Ship Mode </vt:lpstr>
      <vt:lpstr>Data Cleaning Process  Before creating the dashboard, the following preprocessing steps were performed: 1)  Imported CSV into Power BI  2)  Verified data types  3)  Converted date columns  4)  Created DAX measures  5)  Formatted currency values  6)  Removed unnecessary fields  7)  Organized report layout   DAX Measures Created  1)  Total Sales  2)  Total Profit  3)  Total Orders  4)  Profit Margin  5)  Average Discount </vt:lpstr>
      <vt:lpstr>Dashboard Components 1)  KPI Cards  2)  Monthly Sales Trend  3)  Sales by Category  4)  Profit by Region  5)  Sales by Segment  6)  Top 10 Products  7)  Interactive Slicers   Explain that users can filter the report dynamically by:  1)  Region  2)  Category  3)  Segment  4)  Ship Mode  5)  Year </vt:lpstr>
      <vt:lpstr>Key Performance Indicators (KPIs) KPIs Used  1)  Total Sales       Displays total revenue generated during the selected period.  2)  Total Profit       Shows overall business profitability.  3)  Total Orders       Displays the total number of customer orders.  4)  Profit Margin       Measures profitability relative to total sales.  These KPIs provide an executive summary of business performance. </vt:lpstr>
      <vt:lpstr>Dashboard Insights  Key Business Insights:  1)  Technology category contributes the highest sales.  2)  West region generates the highest profit.  3)  Consumer segment contributes the largest share of revenue.  4)  Sales increase during year-end months.  5)  Heavy discounts reduce profitability for some products.  6)  These insights help stakeholders identify opportunities and improve business        performance </vt:lpstr>
      <vt:lpstr>Business Recommendations:  Based on the dashboard analysis:  1)  Increase Investment       Focus marketing campaigns on high-performing regions.  2)  Improve Profitability      Reduce excessive discounts on low-margin products.  3)  Inventory Planning       Maintain sufficient inventory for top-selling products.  4)  Customer Strategy       Develop targeted campaigns for profitable customer segments.  5)  Performance Monitoring      Use the dashboard regularly to track business KPIs. </vt:lpstr>
      <vt:lpstr>Tools &amp; Technologies:  1)  Software       Power BI Desktop   2)  Programming       DAX (Data Analysis Expressions)   3)  Data Source       CSV Dataset   4)  Version Control       GitHub   5)  Skills Demonstrated       Dashboard Design        Data Visualization        Business Intelligence        KPI Development        Data Analysis        Interactive Reporting </vt:lpstr>
      <vt:lpstr>Challenges &amp; Learnings:  Challenges Faced  1)  Understanding Power BI visual interactions  2)  Creating DAX measures  3)  Selecting appropriate chart types  4)  Maintaining dashboard consistency   Learnings  1)  Power BI Dashboard Design  2)  Interactive Reporting  3)  Business Storytelling  4)  KPI Development  5)  DAX Functions  6)  Business Analytics </vt:lpstr>
      <vt:lpstr>Future Enhancements:  Possible future improvements include:  1)  Sales Forecasting  2)  Customer Lifetime Value Analysis  3)  Drill-through Reports  4)  Mobile Dashboard Layout  5)  Executive Dashboard  6)  AI-based Insights  7)  Real-time Data Integration  8)  Advanced DAX Measures </vt:lpstr>
      <vt:lpstr>Conclusion:  Project Summary  This project demonstrates how Power BI transforms raw sales data into meaningful business insights through interactive dashboards.  The dashboard enables stakeholders to: 1)  Monitor KPIs  2)  Analyse trends  3)  Compare regional performance  4)  Identify profitable products  5)  Make data-driven decisions   Overall, the project showcases practical skills in Power BI, DAX, and business analytics.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 Aswal</dc:creator>
  <cp:lastModifiedBy>Manas Aswal</cp:lastModifiedBy>
  <cp:revision>1</cp:revision>
  <dcterms:created xsi:type="dcterms:W3CDTF">2026-07-02T14:42:18Z</dcterms:created>
  <dcterms:modified xsi:type="dcterms:W3CDTF">2026-07-02T14:44:48Z</dcterms:modified>
</cp:coreProperties>
</file>